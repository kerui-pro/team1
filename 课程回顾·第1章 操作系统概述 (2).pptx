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12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812800"/>
            <a:ext cx="762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计算机操作系统 · 慕课版（第二版）　第1章 操作系统引论</a:t>
            </a:r>
            <a:endParaRPr lang="en-US" sz="1100"/>
          </a:p>
        </p:txBody>
      </p:sp>
      <p:cxnSp>
        <p:nvCxnSpPr>
          <p:cNvPr id="3" name="Connector 3"/>
          <p:cNvCxnSpPr/>
          <p:nvPr/>
        </p:nvCxnSpPr>
        <p:spPr>
          <a:xfrm rot="-34376">
            <a:off x="1016032" y="14922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2563EB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4" name="AutoShape 4"/>
          <p:cNvSpPr/>
          <p:nvPr/>
        </p:nvSpPr>
        <p:spPr>
          <a:xfrm>
            <a:off x="1016000" y="2032000"/>
            <a:ext cx="1041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课程回顾 · 第1章 操作系统引论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3327400"/>
            <a:ext cx="1041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用布鲁姆认知模型串起全章，重点剖析 1.6 操作系统的结构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45720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1.1~1.7 节关系梳理 → 记忆 · 理解 · 应用 · 分析 · 评估 · 创新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60198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</a:t>
            </a:r>
            <a:r>
              <a:rPr lang="zh-CN" altLang="en-US" sz="13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</a:t>
            </a:r>
            <a:r>
              <a:rPr lang="en-US" sz="13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13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刘华申腾</a:t>
            </a:r>
            <a:r>
              <a:rPr lang="en-US" sz="13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|　</a:t>
            </a:r>
            <a:r>
              <a:rPr lang="zh-CN" altLang="en-US" sz="13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小组成员</a:t>
            </a:r>
            <a:r>
              <a:rPr lang="en-US" sz="13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13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刘思成，朱科瑞，李佳晨，秦敬吾，闻</a:t>
            </a:r>
            <a:r>
              <a:rPr lang="zh-CN" altLang="en-US" sz="13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俞辉</a:t>
            </a:r>
            <a:r>
              <a:rPr lang="en-US" sz="1300" b="0" i="0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）　|　2026 年秋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06400"/>
            <a:ext cx="635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课程回顾方法 · HOW WE REVIEW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7112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布鲁姆六阶 × 第1章各节，怎么对应？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4224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990600" y="1422400"/>
            <a:ext cx="152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L6 创新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2794000" y="1422400"/>
            <a:ext cx="838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现代 OS 结构趋势　</a:t>
            </a:r>
            <a:r>
              <a:rPr lang="en-US" sz="1300" b="0" i="0" u="none" strike="noStrike">
                <a:solidFill>
                  <a:srgbClr val="93C5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（延伸 1.6）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1336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1E40A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>
            <p:custDataLst>
              <p:tags r:id="rId3"/>
            </p:custDataLst>
          </p:nvPr>
        </p:nvSpPr>
        <p:spPr>
          <a:xfrm>
            <a:off x="990600" y="2133600"/>
            <a:ext cx="152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L5 评估</a:t>
            </a:r>
            <a:endParaRPr lang="en-US" sz="1100"/>
          </a:p>
        </p:txBody>
      </p:sp>
      <p:sp>
        <p:nvSpPr>
          <p:cNvPr id="9" name="AutoShape 9"/>
          <p:cNvSpPr/>
          <p:nvPr>
            <p:custDataLst>
              <p:tags r:id="rId4"/>
            </p:custDataLst>
          </p:nvPr>
        </p:nvSpPr>
        <p:spPr>
          <a:xfrm>
            <a:off x="2794000" y="2133600"/>
            <a:ext cx="838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DBEA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1.6 六种结构优缺点对比　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28448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2563E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5"/>
            </p:custDataLst>
          </p:nvPr>
        </p:nvSpPr>
        <p:spPr>
          <a:xfrm>
            <a:off x="990600" y="2844800"/>
            <a:ext cx="152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L4 分析</a:t>
            </a:r>
            <a:endParaRPr lang="en-US" sz="1100"/>
          </a:p>
        </p:txBody>
      </p:sp>
      <p:sp>
        <p:nvSpPr>
          <p:cNvPr id="12" name="AutoShape 12"/>
          <p:cNvSpPr/>
          <p:nvPr>
            <p:custDataLst>
              <p:tags r:id="rId6"/>
            </p:custDataLst>
          </p:nvPr>
        </p:nvSpPr>
        <p:spPr>
          <a:xfrm>
            <a:off x="2794000" y="2844800"/>
            <a:ext cx="838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DBEA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1.1~1.7 各节之间的逻辑关系是什么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35560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7"/>
            </p:custDataLst>
          </p:nvPr>
        </p:nvSpPr>
        <p:spPr>
          <a:xfrm>
            <a:off x="990600" y="3556000"/>
            <a:ext cx="152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L3 应用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8"/>
            </p:custDataLst>
          </p:nvPr>
        </p:nvSpPr>
        <p:spPr>
          <a:xfrm>
            <a:off x="2794000" y="3556000"/>
            <a:ext cx="838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EFF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 1.3 特征 / 1.4 中断 / 1.5 功能解释身边现象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2672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60A5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>
            <p:custDataLst>
              <p:tags r:id="rId9"/>
            </p:custDataLst>
          </p:nvPr>
        </p:nvSpPr>
        <p:spPr>
          <a:xfrm>
            <a:off x="990600" y="4267200"/>
            <a:ext cx="152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L2 理解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10"/>
            </p:custDataLst>
          </p:nvPr>
        </p:nvSpPr>
        <p:spPr>
          <a:xfrm>
            <a:off x="2794000" y="4267200"/>
            <a:ext cx="838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EFF6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1.2 发展过程 + 1.4 运行环境：OS 怎么来、靠什么跑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9784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93C5F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>
            <p:custDataLst>
              <p:tags r:id="rId11"/>
            </p:custDataLst>
          </p:nvPr>
        </p:nvSpPr>
        <p:spPr>
          <a:xfrm>
            <a:off x="990600" y="4978400"/>
            <a:ext cx="152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L1 记忆</a:t>
            </a:r>
            <a:endParaRPr lang="en-US" sz="1100"/>
          </a:p>
        </p:txBody>
      </p:sp>
      <p:sp>
        <p:nvSpPr>
          <p:cNvPr id="21" name="AutoShape 21"/>
          <p:cNvSpPr/>
          <p:nvPr>
            <p:custDataLst>
              <p:tags r:id="rId12"/>
            </p:custDataLst>
          </p:nvPr>
        </p:nvSpPr>
        <p:spPr>
          <a:xfrm>
            <a:off x="2794000" y="4978400"/>
            <a:ext cx="838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1.1 定义 · 1.3 四大特征 · 1.5 五大功能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816600"/>
            <a:ext cx="1066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57200"/>
            <a:ext cx="635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L1 · REMEMBER 记忆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787400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第1章必须先记住的三组核心概念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4092">
            <a:off x="762004" y="1517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/>
          <p:nvPr/>
        </p:nvSpPr>
        <p:spPr>
          <a:xfrm>
            <a:off x="762000" y="1752600"/>
            <a:ext cx="254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1.1　OS 的定义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1844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600" b="0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控制和管理计算机</a:t>
            </a:r>
            <a:r>
              <a:rPr lang="en-US" sz="16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软硬件资源</a:t>
            </a:r>
            <a:r>
              <a:rPr lang="en-US" sz="1600" b="0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、合理组织工作流程、并为用户提供</a:t>
            </a:r>
            <a:r>
              <a:rPr lang="en-US" sz="16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良好环境与接口</a:t>
            </a:r>
            <a:r>
              <a:rPr lang="en-US" sz="1600" b="0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的程序集合。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8384">
            <a:off x="762008" y="3168650"/>
            <a:ext cx="520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762000" y="33655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1.3　四大基本特征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784600"/>
            <a:ext cx="5080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5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并发</a:t>
            </a:r>
            <a:r>
              <a:rPr lang="en-US" sz="1500" b="0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同一时间间隔内多个事件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5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共享</a:t>
            </a:r>
            <a:r>
              <a:rPr lang="en-US" sz="1500" b="0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资源供多进程共同使用</a:t>
            </a:r>
            <a:endParaRPr lang="en-US" sz="1500" b="0" i="0" u="none" strike="noStrike">
              <a:solidFill>
                <a:srgbClr val="1A202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5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虚拟</a:t>
            </a:r>
            <a:r>
              <a:rPr lang="en-US" sz="1500" b="0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一个物理实体变多个逻辑物</a:t>
            </a:r>
            <a:endParaRPr lang="en-US" sz="1500" b="0" i="0" u="none" strike="noStrike">
              <a:solidFill>
                <a:srgbClr val="1A202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5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异步</a:t>
            </a:r>
            <a:r>
              <a:rPr lang="en-US" sz="1500" b="0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进程以不可预知速度推进</a:t>
            </a:r>
            <a:endParaRPr lang="en-US" sz="1500" b="0" i="0" u="none" strike="noStrike">
              <a:solidFill>
                <a:srgbClr val="1A202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0" name="Connector 10"/>
          <p:cNvCxnSpPr/>
          <p:nvPr/>
        </p:nvCxnSpPr>
        <p:spPr>
          <a:xfrm rot="-8594">
            <a:off x="6350008" y="31686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6350000" y="33655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1.5　五大主要功能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350000" y="3784600"/>
            <a:ext cx="5080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500" b="0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处理机管理 · 存储器管理</a:t>
            </a:r>
            <a:endParaRPr lang="en-US" sz="1100"/>
          </a:p>
          <a:p>
            <a:pPr marL="0" indent="0" algn="l">
              <a:lnSpc>
                <a:spcPct val="142000"/>
              </a:lnSpc>
            </a:pPr>
            <a:r>
              <a:rPr lang="en-US" sz="1500" b="0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设备管理 · 文件管理</a:t>
            </a:r>
            <a:endParaRPr lang="en-US" sz="1500" b="0" i="0" u="none" strike="noStrike">
              <a:solidFill>
                <a:srgbClr val="1A202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42000"/>
              </a:lnSpc>
            </a:pPr>
            <a:r>
              <a:rPr lang="en-US" sz="1500" b="0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用户接口管理</a:t>
            </a:r>
            <a:endParaRPr lang="en-US" sz="1500" b="0" i="0" u="none" strike="noStrike">
              <a:solidFill>
                <a:srgbClr val="1A202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57200"/>
            <a:ext cx="635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L2 · UNDERSTAND 理解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787400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OS 是怎么一步步长出来的？又靠什么跑？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080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1.2 发展过程（一条主线）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095500"/>
            <a:ext cx="5080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8000"/>
              </a:lnSpc>
              <a:defRPr/>
            </a:pPr>
            <a:r>
              <a:rPr lang="en-US" sz="1400" b="0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没有 OS　→　手工操作，慢</a:t>
            </a:r>
            <a:endParaRPr lang="en-US" sz="1100"/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单道批处理　→　作业成批，但 CPU 常等 I/O</a:t>
            </a:r>
            <a:endParaRPr lang="en-US" sz="1400" b="0" i="0" u="none" strike="noStrike">
              <a:solidFill>
                <a:srgbClr val="1A202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多道批处理　→　内存放多道，利用率↑</a:t>
            </a:r>
            <a:endParaRPr lang="en-US" sz="1400" b="0" i="0" u="none" strike="noStrike">
              <a:solidFill>
                <a:srgbClr val="1A202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分时系统　→　多终端交互、响应及时</a:t>
            </a:r>
            <a:endParaRPr lang="en-US" sz="1400" b="0" i="0" u="none" strike="noStrike">
              <a:solidFill>
                <a:srgbClr val="1A202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400" b="0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实时系统　→　严格时限内响应</a:t>
            </a:r>
            <a:endParaRPr lang="en-US" sz="1400" b="0" i="0" u="none" strike="noStrike">
              <a:solidFill>
                <a:srgbClr val="1A202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6" name="Connector 6"/>
          <p:cNvCxnSpPr/>
          <p:nvPr/>
        </p:nvCxnSpPr>
        <p:spPr>
          <a:xfrm rot="5387267">
            <a:off x="4508500" y="3486162"/>
            <a:ext cx="342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6604000" y="1651000"/>
            <a:ext cx="4826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1.4 运行环境（靠什么跑）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604000" y="2095500"/>
            <a:ext cx="4826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58000"/>
              </a:lnSpc>
              <a:defRPr/>
            </a:pPr>
            <a:r>
              <a:rPr lang="en-US" sz="14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内核</a:t>
            </a:r>
            <a:r>
              <a:rPr lang="en-US" sz="1400" b="0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常驻内存、与硬件紧耦合</a:t>
            </a:r>
            <a:endParaRPr lang="en-US" sz="1100"/>
          </a:p>
          <a:p>
            <a:pPr marL="0" indent="0" algn="l">
              <a:lnSpc>
                <a:spcPct val="158000"/>
              </a:lnSpc>
            </a:pPr>
            <a:r>
              <a:rPr lang="en-US" sz="14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双重模式</a:t>
            </a:r>
            <a:r>
              <a:rPr lang="en-US" sz="1400" b="0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内核态跑 OS、用户态跑程序</a:t>
            </a:r>
            <a:endParaRPr lang="en-US" sz="1400" b="0" i="0" u="none" strike="noStrike">
              <a:solidFill>
                <a:srgbClr val="1A202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4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中断/异常</a:t>
            </a:r>
            <a:r>
              <a:rPr lang="en-US" sz="1400" b="0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硬件事件让 CPU 切换到 OS</a:t>
            </a:r>
            <a:endParaRPr lang="en-US" sz="1400" b="0" i="0" u="none" strike="noStrike">
              <a:solidFill>
                <a:srgbClr val="1A202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58000"/>
              </a:lnSpc>
            </a:pPr>
            <a:r>
              <a:rPr lang="en-US" sz="14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系统调用</a:t>
            </a:r>
            <a:r>
              <a:rPr lang="en-US" sz="1400" b="0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程序主动请求 OS 服务</a:t>
            </a:r>
            <a:endParaRPr lang="en-US" sz="1400" b="0" i="0" u="none" strike="noStrike">
              <a:solidFill>
                <a:srgbClr val="1A202C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5397500"/>
            <a:ext cx="10668000" cy="6350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16000" y="5397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两条线合起来看：OS 是被"提高资源利用率 + 方便用户"这两个需求一步步推出来的，而它又必须靠内核态、中断这些硬件机制才能管住计算机。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57200"/>
            <a:ext cx="635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L3 · APPLY 应用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787400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三个日常现象，分别对应哪一节？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14500"/>
            <a:ext cx="33655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968500"/>
            <a:ext cx="285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现象 ①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413000"/>
            <a:ext cx="2857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边听歌、边写文档、边下载，三件事同时在跑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5626">
            <a:off x="1016014" y="3803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4000500"/>
            <a:ext cx="2857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对应 1.3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并发（时间间隔内都推进）+ 共享（CPU/内存共用）</a:t>
            </a:r>
            <a:endParaRPr lang="en-US" sz="13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4406900" y="1714500"/>
            <a:ext cx="33655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4660900" y="1968500"/>
            <a:ext cx="2857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现象 ②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60900" y="2413000"/>
            <a:ext cx="2857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你一敲键盘，光标立刻动了，电脑怎么"知道"的？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5626">
            <a:off x="4660914" y="3803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660900" y="4000500"/>
            <a:ext cx="2857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对应 1.4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键盘发中断信号，CPU 暂停手头事、切到内核处理</a:t>
            </a:r>
            <a:endParaRPr lang="en-US" sz="13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051800" y="1714500"/>
            <a:ext cx="33782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8305800" y="1968500"/>
            <a:ext cx="2870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现象 ③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05800" y="2413000"/>
            <a:ext cx="2870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程序里一句 open()，怎么就读到了硬盘上的文件？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5626">
            <a:off x="8305814" y="3803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305800" y="4000500"/>
            <a:ext cx="28702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3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对应 1.5 / 1.7</a:t>
            </a:r>
            <a:endParaRPr lang="en-US" sz="1100"/>
          </a:p>
          <a:p>
            <a:pPr marL="0"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通过系统调用，请 OS 的文件管理功能代劳</a:t>
            </a:r>
            <a:endParaRPr lang="en-US" sz="1300" b="0" i="0" u="none" strike="noStrike">
              <a:solidFill>
                <a:srgbClr val="64748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06400"/>
            <a:ext cx="635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L4 · ANALYZE 分析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7112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1.1~1.7 这七节，是怎么一步步推进的？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4224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863600" y="1803400"/>
            <a:ext cx="1219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1.1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863600" y="2222500"/>
            <a:ext cx="1219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目标和作用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38200" y="2857500"/>
            <a:ext cx="1320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是什么、为什么需要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336800" y="1651000"/>
            <a:ext cx="14224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2438400" y="1803400"/>
            <a:ext cx="1219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438400" y="2222500"/>
            <a:ext cx="1219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发展过程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413000" y="2857500"/>
            <a:ext cx="1320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怎么一步步演化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911600" y="1651000"/>
            <a:ext cx="14224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4013200" y="1803400"/>
            <a:ext cx="1219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1.3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013200" y="2222500"/>
            <a:ext cx="1219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基本特征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3987800" y="2857500"/>
            <a:ext cx="1320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本质特征是什么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5486400" y="1651000"/>
            <a:ext cx="14224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5588000" y="1803400"/>
            <a:ext cx="1219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1.4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5588000" y="2222500"/>
            <a:ext cx="1219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运行环境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5562600" y="2857500"/>
            <a:ext cx="1320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靠什么硬件跑起来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061200" y="1651000"/>
            <a:ext cx="14224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7162800" y="1803400"/>
            <a:ext cx="1219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1.5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162800" y="2222500"/>
            <a:ext cx="1219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主要功能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7137400" y="2857500"/>
            <a:ext cx="1320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具体管哪些资源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636000" y="1651000"/>
            <a:ext cx="1422400" cy="2286000"/>
          </a:xfrm>
          <a:prstGeom prst="roundRect">
            <a:avLst>
              <a:gd name="adj" fmla="val 0"/>
            </a:avLst>
          </a:prstGeom>
          <a:solidFill>
            <a:srgbClr val="0D132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8737600" y="1803400"/>
            <a:ext cx="1219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1.6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737600" y="2222500"/>
            <a:ext cx="12192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结构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8712200" y="2857500"/>
            <a:ext cx="13208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CBD5E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内部怎么组织？重点</a:t>
            </a:r>
            <a:endParaRPr lang="en-US" sz="1100"/>
          </a:p>
        </p:txBody>
      </p:sp>
      <p:sp>
        <p:nvSpPr>
          <p:cNvPr id="28" name="AutoShape 28"/>
          <p:cNvSpPr/>
          <p:nvPr/>
        </p:nvSpPr>
        <p:spPr>
          <a:xfrm>
            <a:off x="10210800" y="1651000"/>
            <a:ext cx="12192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2563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9" name="AutoShape 29"/>
          <p:cNvSpPr/>
          <p:nvPr/>
        </p:nvSpPr>
        <p:spPr>
          <a:xfrm>
            <a:off x="10312400" y="1803400"/>
            <a:ext cx="101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1.7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10312400" y="2222500"/>
            <a:ext cx="101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系统调用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10287000" y="2857500"/>
            <a:ext cx="11176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0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用户怎么请它服务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-285818">
            <a:off x="2184664" y="2787650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748B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33" name="Connector 33"/>
          <p:cNvCxnSpPr/>
          <p:nvPr/>
        </p:nvCxnSpPr>
        <p:spPr>
          <a:xfrm rot="-285818">
            <a:off x="3759464" y="2787650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748B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34" name="Connector 34"/>
          <p:cNvCxnSpPr/>
          <p:nvPr/>
        </p:nvCxnSpPr>
        <p:spPr>
          <a:xfrm rot="-285818">
            <a:off x="5334264" y="2787650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748B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35" name="Connector 35"/>
          <p:cNvCxnSpPr/>
          <p:nvPr/>
        </p:nvCxnSpPr>
        <p:spPr>
          <a:xfrm rot="-285818">
            <a:off x="6909064" y="2787650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748B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36" name="Connector 36"/>
          <p:cNvCxnSpPr/>
          <p:nvPr/>
        </p:nvCxnSpPr>
        <p:spPr>
          <a:xfrm rot="-285818">
            <a:off x="8483864" y="2787650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748B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37" name="Connector 37"/>
          <p:cNvCxnSpPr/>
          <p:nvPr/>
        </p:nvCxnSpPr>
        <p:spPr>
          <a:xfrm rot="-285818">
            <a:off x="10058664" y="2787650"/>
            <a:ext cx="152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64748B">
                <a:alpha val="100000"/>
              </a:srgbClr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38" name="AutoShape 38"/>
          <p:cNvSpPr/>
          <p:nvPr/>
        </p:nvSpPr>
        <p:spPr>
          <a:xfrm>
            <a:off x="762000" y="4381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一条认知主线：是什么 → 怎么来 → 有何特征 → 靠什么跑 → 管什么 → 怎么组织 → 怎么被调用</a:t>
            </a:r>
            <a:endParaRPr lang="en-US" sz="1100"/>
          </a:p>
        </p:txBody>
      </p:sp>
      <p:sp>
        <p:nvSpPr>
          <p:cNvPr id="39" name="AutoShape 39"/>
          <p:cNvSpPr/>
          <p:nvPr/>
        </p:nvSpPr>
        <p:spPr>
          <a:xfrm>
            <a:off x="762000" y="48895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42000"/>
              </a:lnSpc>
              <a:defRPr/>
            </a:pPr>
            <a:r>
              <a:rPr lang="en-US" sz="1400" b="0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 5 节回答"OS 是什么、怎么工作"；到 1.6，问题升级为：</a:t>
            </a:r>
            <a:r>
              <a:rPr lang="en-US" sz="1400" b="1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功能这么多、代码这么大，内部到底怎么组织才不崩？</a:t>
            </a:r>
            <a:r>
              <a:rPr lang="en-US" sz="1400" b="0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这就是我们接下来要重点评估的。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06400"/>
            <a:ext cx="635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L5 · EVALUATE 评估（1/2）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7112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1.6　六种结构，各自是怎么组织模块的？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460500"/>
            <a:ext cx="203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简单结构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921000" y="1460500"/>
            <a:ext cx="8509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模块间不分层次，互相可以任意调用，像一个没有规矩的大仓库。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4092">
            <a:off x="762004" y="1898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/>
        </p:nvSpPr>
        <p:spPr>
          <a:xfrm>
            <a:off x="762000" y="2032000"/>
            <a:ext cx="203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模块化结构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921000" y="2032000"/>
            <a:ext cx="8509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OS 划分成若干模块，模块间通过定义好的接口互相调用。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4092">
            <a:off x="762004" y="2470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762000" y="2603500"/>
            <a:ext cx="203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分层式结构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921000" y="2603500"/>
            <a:ext cx="8509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OS 分成若干层，每一层只能调用它下面那一层，不能跨层。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4092">
            <a:off x="762004" y="3041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762000" y="3175000"/>
            <a:ext cx="203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微内核结构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921000" y="3175000"/>
            <a:ext cx="8509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内核只留最基本的功能（通信、低级内存、中断），其余服务放用户态。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4092">
            <a:off x="762004" y="3613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762000" y="3746500"/>
            <a:ext cx="203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外核结构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2921000" y="3746500"/>
            <a:ext cx="8509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内核直接为每个应用提供受保护的虚拟机，由应用自己管理硬件。</a:t>
            </a:r>
            <a:endParaRPr lang="en-US" sz="1100"/>
          </a:p>
        </p:txBody>
      </p:sp>
      <p:cxnSp>
        <p:nvCxnSpPr>
          <p:cNvPr id="18" name="Connector 18"/>
          <p:cNvCxnSpPr/>
          <p:nvPr/>
        </p:nvCxnSpPr>
        <p:spPr>
          <a:xfrm rot="-4092">
            <a:off x="762004" y="4184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762000" y="4318000"/>
            <a:ext cx="2032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混合结构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2921000" y="4318000"/>
            <a:ext cx="8509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不走极端，把上面几种结构按场景组合，兼顾性能与稳定。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5016500"/>
            <a:ext cx="10668000" cy="889000"/>
          </a:xfrm>
          <a:prstGeom prst="roundRect">
            <a:avLst>
              <a:gd name="adj" fmla="val 0"/>
            </a:avLst>
          </a:prstGeom>
          <a:solidFill>
            <a:srgbClr val="2563EB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1016000" y="51435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抓关键：六种结构的差别，就在于</a:t>
            </a:r>
            <a:r>
              <a:rPr lang="en-US" sz="14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"把多少功能放进内核、调用规则松还是紧"</a:t>
            </a:r>
            <a:r>
              <a:rPr lang="en-US" sz="1400" b="0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——越往里放、规则越紧，越稳定但越慢；越往外放、规则越松，越快但越容易乱。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06400"/>
            <a:ext cx="635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L5 · EVALUATE 评估（2/2）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7112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六种结构，优缺点和代表系统一张表算清</a:t>
            </a:r>
            <a:endParaRPr lang="en-US" sz="110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762000" y="1460500"/>
          <a:ext cx="10668000" cy="4191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524000"/>
                <a:gridCol w="3175000"/>
                <a:gridCol w="3175000"/>
                <a:gridCol w="2794000"/>
              </a:tblGrid>
              <a:tr h="4445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结构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优点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缺点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典型代表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D1326">
                        <a:alpha val="100000"/>
                      </a:srgbClr>
                    </a:solidFill>
                  </a:tcPr>
                </a:tc>
              </a:tr>
              <a:tr h="6223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简单结构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结构紧凑、运行效率高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模块耦合紧、难维护、错一处易全崩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早期 MS-DOS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223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模块化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按接口划分、便于分工与扩展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模块间调用关系仍复杂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Linux 内核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223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分层式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每层只调下层，设计清晰、易调试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层间开销累积、效率下降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THE 系统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223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微内核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内核极小、稳定安全、易扩展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用户态与内核态通信开销大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Minix、Mach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223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外核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避免内核重复管理、性能高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需应用配合、通用性差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研究性系统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350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200" b="1" i="0" u="none" strike="noStrike">
                          <a:solidFill>
                            <a:srgbClr val="2563EB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混合结构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按场景组合，兼顾性能与稳定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设计与实现复杂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100" b="0" i="0" u="none" strike="noStrike">
                          <a:solidFill>
                            <a:srgbClr val="1F2329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Windows、macOS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AutoShape 5"/>
          <p:cNvSpPr/>
          <p:nvPr/>
        </p:nvSpPr>
        <p:spPr>
          <a:xfrm>
            <a:off x="762000" y="5842000"/>
            <a:ext cx="10668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1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评估结论：越强调稳定安全越走向微内核，越强调性能越走向模块化，工程现实最终选混合。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457200"/>
            <a:ext cx="635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L6 · CREATE 创新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787400"/>
            <a:ext cx="106680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站在 1.6 往外看：结构还会怎么演进？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651000" y="1778000"/>
            <a:ext cx="977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混合结构成为主流</a:t>
            </a:r>
            <a:r>
              <a:rPr lang="en-US" sz="16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Windows、macOS 都不再走极端，性能敏感处用模块化、安全边界处用微内核。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921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651000" y="2921000"/>
            <a:ext cx="977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微内核在新场景回归</a:t>
            </a:r>
            <a:r>
              <a:rPr lang="en-US" sz="16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手机、汽车、物联网要求一个模块崩溃不拖垮整机，微内核"小内核+用户态服务"重新受重视。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4064000"/>
            <a:ext cx="76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60A5F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651000" y="4064000"/>
            <a:ext cx="9779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云时代内核越来越薄</a:t>
            </a:r>
            <a:r>
              <a:rPr lang="en-US" sz="1600" b="0" i="0" u="none" strike="noStrike">
                <a:solidFill>
                  <a:srgbClr val="E2E8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　更多调度、存储、安全功能上移到用户态甚至云端，内核只留最关键的硬件管理与隔离。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5461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1" u="none" strike="noStrike">
                <a:solidFill>
                  <a:srgbClr val="94A3B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结构设计这架天平没有终点——约束多一点还是少一点，永远跟着"这个 OS 要跑在什么设备、最怕什么故障"走。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F4F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635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本章小结 · SUMMARY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0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一句话带走第1章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68500"/>
            <a:ext cx="1066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33000"/>
              </a:lnSpc>
              <a:defRPr/>
            </a:pPr>
            <a:r>
              <a:rPr lang="en-US" sz="1800" b="0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操作系统是管理软硬件资源、位于用户与裸机之间的系统软件；七节回答了它</a:t>
            </a:r>
            <a:r>
              <a:rPr lang="en-US" sz="18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是什么、怎么来、有何特征、靠什么跑、管什么</a:t>
            </a:r>
            <a:r>
              <a:rPr lang="en-US" sz="1800" b="0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，而 1.6 的结构设计，回答的是它</a:t>
            </a:r>
            <a:r>
              <a:rPr lang="en-US" sz="1800" b="1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内部怎么组织才不崩</a:t>
            </a:r>
            <a:r>
              <a:rPr lang="en-US" sz="1800" b="0" i="0" u="none" strike="noStrike">
                <a:solidFill>
                  <a:srgbClr val="0D13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3613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BD5E1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/>
          <p:nvPr/>
        </p:nvSpPr>
        <p:spPr>
          <a:xfrm>
            <a:off x="762000" y="3937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748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六阶回顾路径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43561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1A202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记概念 → 懂来历与环境 → 解释现象 → 串七节关系 → 评六种结构 → 看现代趋势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53975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400" b="1" i="0" u="none" strike="noStrike">
                <a:solidFill>
                  <a:srgbClr val="2563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谢谢聆听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30,&quot;left&quot;:78,&quot;top&quot;:112,&quot;width&quot;:802}"/>
</p:tagLst>
</file>

<file path=ppt/tags/tag2.xml><?xml version="1.0" encoding="utf-8"?>
<p:tagLst xmlns:p="http://schemas.openxmlformats.org/presentationml/2006/main">
  <p:tag name="KSO_WM_DIAGRAM_VIRTUALLY_FRAME" val="{&quot;height&quot;:330,&quot;left&quot;:78,&quot;top&quot;:112,&quot;width&quot;:802}"/>
</p:tagLst>
</file>

<file path=ppt/tags/tag3.xml><?xml version="1.0" encoding="utf-8"?>
<p:tagLst xmlns:p="http://schemas.openxmlformats.org/presentationml/2006/main">
  <p:tag name="KSO_WM_DIAGRAM_VIRTUALLY_FRAME" val="{&quot;height&quot;:330,&quot;left&quot;:78,&quot;top&quot;:112,&quot;width&quot;:802}"/>
</p:tagLst>
</file>

<file path=ppt/tags/tag4.xml><?xml version="1.0" encoding="utf-8"?>
<p:tagLst xmlns:p="http://schemas.openxmlformats.org/presentationml/2006/main">
  <p:tag name="KSO_WM_DIAGRAM_VIRTUALLY_FRAME" val="{&quot;height&quot;:330,&quot;left&quot;:78,&quot;top&quot;:112,&quot;width&quot;:802}"/>
</p:tagLst>
</file>

<file path=ppt/tags/tag5.xml><?xml version="1.0" encoding="utf-8"?>
<p:tagLst xmlns:p="http://schemas.openxmlformats.org/presentationml/2006/main">
  <p:tag name="KSO_WM_DIAGRAM_VIRTUALLY_FRAME" val="{&quot;height&quot;:330,&quot;left&quot;:78,&quot;top&quot;:112,&quot;width&quot;:802}"/>
</p:tagLst>
</file>

<file path=ppt/tags/tag6.xml><?xml version="1.0" encoding="utf-8"?>
<p:tagLst xmlns:p="http://schemas.openxmlformats.org/presentationml/2006/main">
  <p:tag name="KSO_WM_DIAGRAM_VIRTUALLY_FRAME" val="{&quot;height&quot;:330,&quot;left&quot;:78,&quot;top&quot;:112,&quot;width&quot;:802}"/>
</p:tagLst>
</file>

<file path=ppt/tags/tag7.xml><?xml version="1.0" encoding="utf-8"?>
<p:tagLst xmlns:p="http://schemas.openxmlformats.org/presentationml/2006/main">
  <p:tag name="KSO_WM_DIAGRAM_VIRTUALLY_FRAME" val="{&quot;height&quot;:330,&quot;left&quot;:78,&quot;top&quot;:112,&quot;width&quot;:802}"/>
</p:tagLst>
</file>

<file path=ppt/tags/tag8.xml><?xml version="1.0" encoding="utf-8"?>
<p:tagLst xmlns:p="http://schemas.openxmlformats.org/presentationml/2006/main">
  <p:tag name="KSO_WM_DIAGRAM_VIRTUALLY_FRAME" val="{&quot;height&quot;:330,&quot;left&quot;:78,&quot;top&quot;:112,&quot;width&quot;:802}"/>
</p:tagLst>
</file>

<file path=ppt/tags/tag9.xml><?xml version="1.0" encoding="utf-8"?>
<p:tagLst xmlns:p="http://schemas.openxmlformats.org/presentationml/2006/main">
  <p:tag name="KSO_WM_DIAGRAM_VIRTUALLY_FRAME" val="{&quot;height&quot;:330,&quot;left&quot;:78,&quot;top&quot;:112,&quot;width&quot;:802}"/>
</p:tagLst>
</file>

<file path=ppt/tags/tag10.xml><?xml version="1.0" encoding="utf-8"?>
<p:tagLst xmlns:p="http://schemas.openxmlformats.org/presentationml/2006/main">
  <p:tag name="KSO_WM_DIAGRAM_VIRTUALLY_FRAME" val="{&quot;height&quot;:330,&quot;left&quot;:78,&quot;top&quot;:112,&quot;width&quot;:802}"/>
</p:tagLst>
</file>

<file path=ppt/tags/tag11.xml><?xml version="1.0" encoding="utf-8"?>
<p:tagLst xmlns:p="http://schemas.openxmlformats.org/presentationml/2006/main">
  <p:tag name="KSO_WM_DIAGRAM_VIRTUALLY_FRAME" val="{&quot;height&quot;:330,&quot;left&quot;:78,&quot;top&quot;:112,&quot;width&quot;:802}"/>
</p:tagLst>
</file>

<file path=ppt/tags/tag12.xml><?xml version="1.0" encoding="utf-8"?>
<p:tagLst xmlns:p="http://schemas.openxmlformats.org/presentationml/2006/main">
  <p:tag name="KSO_WM_DIAGRAM_VIRTUALLY_FRAME" val="{&quot;height&quot;:330,&quot;left&quot;:78,&quot;top&quot;:112,&quot;width&quot;:802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2345</Words>
  <Application>WPS 演示</Application>
  <PresentationFormat/>
  <Paragraphs>277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。。。</cp:lastModifiedBy>
  <cp:revision>1</cp:revision>
  <dcterms:created xsi:type="dcterms:W3CDTF">2026-09-29T14:55:40Z</dcterms:created>
  <dcterms:modified xsi:type="dcterms:W3CDTF">2026-09-29T14:55:40Z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{"Label":"1","ContentProducer":"001191110102MACQD9K64010000","ProduceID":"7690968023277456566","ReservedCode1":"","ContentPropagator":"","PropagateID":"","ReservedCode2":""}</vt:lpwstr>
  </property>
  <property fmtid="{D5CDD505-2E9C-101B-9397-08002B2CF9AE}" pid="3" name="KSOProductBuildVer">
    <vt:lpwstr>2052-12.1.0.28505</vt:lpwstr>
  </property>
  <property fmtid="{D5CDD505-2E9C-101B-9397-08002B2CF9AE}" pid="4" name="ICV">
    <vt:lpwstr>178D2482C21B46C9B426DC1258E268F6_12</vt:lpwstr>
  </property>
</Properties>
</file>